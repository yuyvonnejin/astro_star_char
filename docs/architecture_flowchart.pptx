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33333"/>
                </a:solidFill>
              </a:rPr>
              <a:t>astro_calib -- Architecture and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94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</a:rPr>
              <a:t>Proximity-ordered RV exoplanet survey built on a Gaia stellar characterization pipeline. Boxes are color-coded by where the data comes from.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20040" cy="320040"/>
          </a:xfrm>
          <a:prstGeom prst="rect">
            <a:avLst/>
          </a:prstGeom>
          <a:solidFill>
            <a:srgbClr val="2E75B6"/>
          </a:solidFill>
          <a:ln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898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33333"/>
                </a:solidFill>
              </a:rPr>
              <a:t>Online API (live query)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20040" cy="320040"/>
          </a:xfrm>
          <a:prstGeom prst="rect">
            <a:avLst/>
          </a:prstGeom>
          <a:solidFill>
            <a:srgbClr val="7F7F7F"/>
          </a:solidFill>
          <a:ln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9280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33333"/>
                </a:solidFill>
              </a:rPr>
              <a:t>Static table in code (literature)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39"/>
            <a:ext cx="320040" cy="320040"/>
          </a:xfrm>
          <a:prstGeom prst="rect">
            <a:avLst/>
          </a:prstGeom>
          <a:solidFill>
            <a:srgbClr val="ED7D31"/>
          </a:solidFill>
          <a:ln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9572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33333"/>
                </a:solidFill>
              </a:rPr>
              <a:t>Curated data file (hand-written)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80359"/>
            <a:ext cx="320040" cy="320040"/>
          </a:xfrm>
          <a:prstGeom prst="rect">
            <a:avLst/>
          </a:prstGeom>
          <a:solidFill>
            <a:srgbClr val="70AD47"/>
          </a:solidFill>
          <a:ln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9864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33333"/>
                </a:solidFill>
              </a:rPr>
              <a:t>Generated data file (script)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83279"/>
            <a:ext cx="3200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40156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33333"/>
                </a:solidFill>
              </a:rPr>
              <a:t>Pure computation (offline)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86199"/>
            <a:ext cx="320040" cy="320040"/>
          </a:xfrm>
          <a:prstGeom prst="rect">
            <a:avLst/>
          </a:prstGeom>
          <a:solidFill>
            <a:srgbClr val="8064A2"/>
          </a:solidFill>
          <a:ln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0448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33333"/>
                </a:solidFill>
              </a:rPr>
              <a:t>Orchestrator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19"/>
            <a:ext cx="320040" cy="320040"/>
          </a:xfrm>
          <a:prstGeom prst="rect">
            <a:avLst/>
          </a:prstGeom>
          <a:solidFill>
            <a:srgbClr val="FFD966"/>
          </a:solidFill>
          <a:ln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0740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33333"/>
                </a:solidFill>
              </a:rPr>
              <a:t>Output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40817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Gaia DR3, SIMBAD, MAST, DACE, NASA Exoplanet Archive, Vizier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1911095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Teff/BC coefficients, curated 10-star catalog, sp-type anchors, name aliases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414015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data/known_planets.json -- the authority for which planets get fitted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916935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data/shell_catalog.json -- 176 FGK dwarfs &lt; 15 pc from one SIMBAD TAP 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419855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distance, temperature, mass, periodogram, transit, sensitivity, rv_keplerian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922775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pipeline, target_report, deep_dive, survey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425695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output/survey/, output/target_reports/, logs/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5120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Slides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40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2. System map: APIs, modules, data files, outputs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6967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3. Stellar pipeline (Modules 1-5): Gaia dict to planet properties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5274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4. RV analysis chain (validated on HD 20794 / 61 Vir / Tau Ceti)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087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5. Survey driver (Phase 8): targets, reference-first fitting, scorecards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6480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6. Test suite: what is synthetic, what reads real files, what hits the 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33333"/>
                </a:solidFill>
              </a:rPr>
              <a:t>System map -- every module and where its data comes from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40080"/>
            <a:ext cx="1828800" cy="658368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SIMBAD</a:t>
            </a:r>
          </a:p>
          <a:p>
            <a:pPr algn="ctr"/>
            <a:r>
              <a:rPr sz="750">
                <a:solidFill>
                  <a:srgbClr val="FFFFFF"/>
                </a:solidFill>
              </a:rPr>
              <a:t>names -&gt; IDs; TAP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40864" y="640080"/>
            <a:ext cx="1828800" cy="658368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Gaia DR3 TAP</a:t>
            </a:r>
          </a:p>
          <a:p>
            <a:pPr algn="ctr"/>
            <a:r>
              <a:rPr sz="750">
                <a:solidFill>
                  <a:srgbClr val="FFFFFF"/>
                </a:solidFill>
              </a:rPr>
              <a:t>parallax, photometry, PM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5968" y="640080"/>
            <a:ext cx="1828800" cy="658368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Vizier</a:t>
            </a:r>
          </a:p>
          <a:p>
            <a:pPr algn="ctr"/>
            <a:r>
              <a:rPr sz="750">
                <a:solidFill>
                  <a:srgbClr val="FFFFFF"/>
                </a:solidFill>
              </a:rPr>
              <a:t>Hipparcos-2 PM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640080"/>
            <a:ext cx="1828800" cy="658368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MAST</a:t>
            </a:r>
          </a:p>
          <a:p>
            <a:pPr algn="ctr"/>
            <a:r>
              <a:rPr sz="750">
                <a:solidFill>
                  <a:srgbClr val="FFFFFF"/>
                </a:solidFill>
              </a:rPr>
              <a:t>TESS/Kepler LCs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66176" y="640080"/>
            <a:ext cx="1828800" cy="658368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DACE</a:t>
            </a:r>
          </a:p>
          <a:p>
            <a:pPr algn="ctr"/>
            <a:r>
              <a:rPr sz="750">
                <a:solidFill>
                  <a:srgbClr val="FFFFFF"/>
                </a:solidFill>
              </a:rPr>
              <a:t>RV + activity indicators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640080"/>
            <a:ext cx="1828800" cy="658368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NASA Archive</a:t>
            </a:r>
          </a:p>
          <a:p>
            <a:pPr algn="ctr"/>
            <a:r>
              <a:rPr sz="750">
                <a:solidFill>
                  <a:srgbClr val="FFFFFF"/>
                </a:solidFill>
              </a:rPr>
              <a:t>known planets (TAP)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2157984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333333"/>
                </a:solidFill>
              </a:rPr>
              <a:t>data_access.py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Gaia queries, SIMBAD name resolution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43784" y="1874519"/>
            <a:ext cx="2157984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333333"/>
                </a:solidFill>
              </a:rPr>
              <a:t>targets.py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curated catalog + shell catalog 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84648" y="1874519"/>
            <a:ext cx="2157984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333333"/>
                </a:solidFill>
              </a:rPr>
              <a:t>proper_motion.py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Gaia-Hipparcos PM anomaly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25512" y="1874519"/>
            <a:ext cx="2157984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333333"/>
                </a:solidFill>
              </a:rPr>
              <a:t>lightcurve.py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LC retrieve, clean, bin, flatten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66376" y="1874519"/>
            <a:ext cx="2157984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333333"/>
                </a:solidFill>
              </a:rPr>
              <a:t>rv_data.py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RV fetch, filter, bin, decorrelate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80160" y="1298448"/>
            <a:ext cx="301752" cy="576071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80160" y="1298448"/>
            <a:ext cx="2642616" cy="576071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581912" y="1298448"/>
            <a:ext cx="1673352" cy="576071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55264" y="1298448"/>
            <a:ext cx="3008376" cy="576071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30368" y="1298448"/>
            <a:ext cx="1033272" cy="576071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205472" y="1298448"/>
            <a:ext cx="1399032" cy="576071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80576" y="1298448"/>
            <a:ext cx="1764792" cy="576071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0945368" y="1298448"/>
            <a:ext cx="210312" cy="576071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2920" y="3063240"/>
            <a:ext cx="1828800" cy="777240"/>
          </a:xfrm>
          <a:prstGeom prst="roundRect">
            <a:avLst/>
          </a:prstGeom>
          <a:solidFill>
            <a:srgbClr val="ED7D31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FFFFFF"/>
                </a:solidFill>
              </a:rPr>
              <a:t>known_planets.json</a:t>
            </a:r>
          </a:p>
          <a:p>
            <a:pPr algn="ctr"/>
            <a:r>
              <a:rPr sz="750">
                <a:solidFill>
                  <a:srgbClr val="FFFFFF"/>
                </a:solidFill>
              </a:rPr>
              <a:t>planets + per-target config (curated literature)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4600" y="306324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333333"/>
                </a:solidFill>
              </a:rPr>
              <a:t>reference_data.py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cached loader, schema check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063240"/>
            <a:ext cx="1828800" cy="777240"/>
          </a:xfrm>
          <a:prstGeom prst="roundRect">
            <a:avLst/>
          </a:prstGeom>
          <a:solidFill>
            <a:srgbClr val="70AD47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FFFFFF"/>
                </a:solidFill>
              </a:rPr>
              <a:t>shell_catalog.json</a:t>
            </a:r>
          </a:p>
          <a:p>
            <a:pPr algn="ctr"/>
            <a:r>
              <a:rPr sz="750">
                <a:solidFill>
                  <a:srgbClr val="FFFFFF"/>
                </a:solidFill>
              </a:rPr>
              <a:t>176 FGK dwarfs &lt; 15 pc (SIMBAD, regenerable)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063240"/>
            <a:ext cx="52578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333333"/>
                </a:solidFill>
              </a:rPr>
              <a:t>Pure computation (no I/O)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distance, temperature, mass, periodogram, transit, sensitivity, rv_keplerian (RadVel wrapper)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922776" y="2606040"/>
            <a:ext cx="1426464" cy="457200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0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333333"/>
                </a:solidFill>
              </a:rPr>
              <a:t>build / read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31720" y="3456432"/>
            <a:ext cx="182880" cy="0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1520" y="4343400"/>
            <a:ext cx="2377440" cy="777240"/>
          </a:xfrm>
          <a:prstGeom prst="roundRect">
            <a:avLst/>
          </a:prstGeom>
          <a:solidFill>
            <a:srgbClr val="8064A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FFFFFF"/>
                </a:solidFill>
              </a:rPr>
              <a:t>pipeline.py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Modules 1-5 for one star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4343400"/>
            <a:ext cx="2377440" cy="777240"/>
          </a:xfrm>
          <a:prstGeom prst="roundRect">
            <a:avLst/>
          </a:prstGeom>
          <a:solidFill>
            <a:srgbClr val="8064A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FFFFFF"/>
                </a:solidFill>
              </a:rPr>
              <a:t>target_report.py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Phase 7a per-target report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4343400"/>
            <a:ext cx="2377440" cy="777240"/>
          </a:xfrm>
          <a:prstGeom prst="roundRect">
            <a:avLst/>
          </a:prstGeom>
          <a:solidFill>
            <a:srgbClr val="8064A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FFFFFF"/>
                </a:solidFill>
              </a:rPr>
              <a:t>deep_dive.py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deep analysis; hosts the RV chain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0" y="4343400"/>
            <a:ext cx="2377440" cy="777240"/>
          </a:xfrm>
          <a:prstGeom prst="roundRect">
            <a:avLst/>
          </a:prstGeom>
          <a:solidFill>
            <a:srgbClr val="8064A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FFFFFF"/>
                </a:solidFill>
              </a:rPr>
              <a:t>survey.py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Phase 8 survey driver + scorecards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581912" y="2606040"/>
            <a:ext cx="338328" cy="1737360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4572000" y="2606040"/>
            <a:ext cx="4032504" cy="1737360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7223759" y="2606040"/>
            <a:ext cx="3721609" cy="1737360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922776" y="2606040"/>
            <a:ext cx="5952744" cy="1737360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383280" y="3840480"/>
            <a:ext cx="3474719" cy="502920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383280" y="3840480"/>
            <a:ext cx="5943600" cy="594360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223759" y="3840480"/>
            <a:ext cx="1828801" cy="502920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2286000" y="3840480"/>
            <a:ext cx="5212079" cy="502920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12480" y="4727448"/>
            <a:ext cx="274320" cy="0"/>
          </a:xfrm>
          <a:prstGeom prst="line">
            <a:avLst/>
          </a:prstGeom>
          <a:ln w="1524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229600" y="4773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333333"/>
                </a:solidFill>
              </a:rPr>
              <a:t>_run_rv_analysis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71600" y="5715000"/>
            <a:ext cx="2011680" cy="548640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333333"/>
                </a:solidFill>
              </a:rPr>
              <a:t>logs/pipeline.log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80" y="5715000"/>
            <a:ext cx="2651760" cy="548640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333333"/>
                </a:solidFill>
              </a:rPr>
              <a:t>output/target_reports/ (JSON + md)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80960" y="5715000"/>
            <a:ext cx="3017520" cy="548640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333333"/>
                </a:solidFill>
              </a:rPr>
              <a:t>output/survey/ results JSON + summary md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920240" y="5120640"/>
            <a:ext cx="457200" cy="594360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72000" y="5120640"/>
            <a:ext cx="822960" cy="594360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5852160" y="5120640"/>
            <a:ext cx="1371599" cy="594360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9144000" y="5120640"/>
            <a:ext cx="731520" cy="594360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320040" y="6473952"/>
            <a:ext cx="164592" cy="164592"/>
          </a:xfrm>
          <a:prstGeom prst="rect">
            <a:avLst/>
          </a:prstGeom>
          <a:solidFill>
            <a:srgbClr val="2E75B6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1207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Online API (live query)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80006" y="6473952"/>
            <a:ext cx="164592" cy="164592"/>
          </a:xfrm>
          <a:prstGeom prst="rect">
            <a:avLst/>
          </a:prstGeom>
          <a:solidFill>
            <a:srgbClr val="7F7F7F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81174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Static table in code (literature)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06900" y="6473952"/>
            <a:ext cx="164592" cy="164592"/>
          </a:xfrm>
          <a:prstGeom prst="rect">
            <a:avLst/>
          </a:prstGeom>
          <a:solidFill>
            <a:srgbClr val="ED7D31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08068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Curated data file (hand-written)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77102" y="6473952"/>
            <a:ext cx="164592" cy="164592"/>
          </a:xfrm>
          <a:prstGeom prst="rect">
            <a:avLst/>
          </a:prstGeom>
          <a:solidFill>
            <a:srgbClr val="70AD47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78270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Generated data file (script)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20532" y="6473952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21700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Pure computation (offline)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50577" y="6473952"/>
            <a:ext cx="164592" cy="164592"/>
          </a:xfrm>
          <a:prstGeom prst="rect">
            <a:avLst/>
          </a:prstGeom>
          <a:solidFill>
            <a:srgbClr val="8064A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51745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Orchestrator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586923" y="6473952"/>
            <a:ext cx="164592" cy="164592"/>
          </a:xfrm>
          <a:prstGeom prst="rect">
            <a:avLst/>
          </a:prstGeom>
          <a:solidFill>
            <a:srgbClr val="FFD966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788091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Output 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33333"/>
                </a:solidFill>
              </a:rPr>
              <a:t>Stellar pipeline (pipeline.py, Modules 1-5)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1920240" cy="91440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Star input dict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Gaia DR3 query (online)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or literature values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(run_stars.py STARS)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91440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333333"/>
                </a:solidFill>
              </a:rPr>
              <a:t>Module 1: distance.py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Bayesian parallax inversion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or Cepheid Leavitt law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914400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333333"/>
                </a:solidFill>
              </a:rPr>
              <a:t>Module 2: temperature.py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Teff from BP-RP color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BC_G, luminosity, radius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91440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333333"/>
                </a:solidFill>
              </a:rPr>
              <a:t>Module 3: mass.py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mass-luminosity relation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main-sequence 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914400"/>
            <a:ext cx="1828800" cy="914400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333333"/>
                </a:solidFill>
              </a:rPr>
              <a:t>Stellar properties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distance, Teff, L, R, M vs FLAME reference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1371600"/>
            <a:ext cx="4572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63440" y="1371600"/>
            <a:ext cx="4572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223760" y="1371600"/>
            <a:ext cx="4572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601200" y="1371600"/>
            <a:ext cx="4572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33333"/>
                </a:solidFill>
              </a:rPr>
              <a:t>Optional (requires network):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743200"/>
            <a:ext cx="1920240" cy="91440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MAST via lightkurve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TESS/Kepler/K2 sectors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SPOC author priority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74320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333333"/>
                </a:solidFill>
              </a:rPr>
              <a:t>Module 4a: lightcurve.py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stitch, clean (5-sigma)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bin, flatten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2743200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333333"/>
                </a:solidFill>
              </a:rPr>
              <a:t>Module 4b: periodogram.py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Lomb-Scargle period + FAP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variability class</a:t>
            </a:r>
          </a:p>
        </p:txBody>
      </p:sp>
      <p:sp>
        <p:nvSpPr>
          <p:cNvPr id="16" name="Diamond 15"/>
          <p:cNvSpPr/>
          <p:nvPr/>
        </p:nvSpPr>
        <p:spPr>
          <a:xfrm>
            <a:off x="7680960" y="2743200"/>
            <a:ext cx="1920240" cy="91440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333333"/>
                </a:solidFill>
              </a:rPr>
              <a:t>Quiet-star gate</a:t>
            </a:r>
          </a:p>
          <a:p>
            <a:pPr algn="ctr"/>
            <a:r>
              <a:rPr sz="700">
                <a:solidFill>
                  <a:srgbClr val="333333"/>
                </a:solidFill>
              </a:rPr>
              <a:t>amplitude &gt; 10 ppt blocks transit 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274320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333333"/>
                </a:solidFill>
              </a:rPr>
              <a:t>Pre-whiten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remove stellar variability (phase-fold subtract)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86000" y="3200400"/>
            <a:ext cx="4572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63440" y="3200400"/>
            <a:ext cx="4572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23760" y="3200400"/>
            <a:ext cx="4572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01200" y="3200400"/>
            <a:ext cx="4572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3703320" y="1828800"/>
            <a:ext cx="2468880" cy="914400"/>
          </a:xfrm>
          <a:prstGeom prst="line">
            <a:avLst/>
          </a:prstGeom>
          <a:ln w="12700">
            <a:solidFill>
              <a:srgbClr val="33333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06240" y="2148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333333"/>
                </a:solidFill>
              </a:rPr>
              <a:t>Cepheid period feedback -&gt; recompute distance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420624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333333"/>
                </a:solidFill>
              </a:rPr>
              <a:t>Module 5a: transit.py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BLS, stratified candidates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local SDE, HZ-targeted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420624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333333"/>
                </a:solidFill>
              </a:rPr>
              <a:t>Module 5b: planet props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radius, orbit, T_eq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HZ status, size class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4206240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333333"/>
                </a:solidFill>
              </a:rPr>
              <a:t>Module 5c: validation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even/odd depth test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U vs V shape, re-rank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7440" y="4206240"/>
            <a:ext cx="2286000" cy="914400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333333"/>
                </a:solidFill>
              </a:rPr>
              <a:t>Result JSON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stellar + variability + transit fields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972800" y="3657600"/>
            <a:ext cx="0" cy="54864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9601200" y="4663440"/>
            <a:ext cx="4572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223760" y="4663440"/>
            <a:ext cx="4572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4663440" y="4663440"/>
            <a:ext cx="4572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65760" y="5486400"/>
            <a:ext cx="11430000" cy="731520"/>
          </a:xfrm>
          <a:prstGeom prst="roundRect">
            <a:avLst/>
          </a:prstGeom>
          <a:solidFill>
            <a:srgbClr val="7F7F7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FFFFFF"/>
                </a:solidFill>
              </a:rPr>
              <a:t>Static literature tables used (no network)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Mucciarelli+2021 color-Teff coefficients | Andrae+2018 BC_G | Bailer-Jones 2015 distance prior | Kopparapu+2013 habitable zone | Fulton+2017 planet size classes | piecewise mass-luminosity exponents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6473952"/>
            <a:ext cx="164592" cy="164592"/>
          </a:xfrm>
          <a:prstGeom prst="rect">
            <a:avLst/>
          </a:prstGeom>
          <a:solidFill>
            <a:srgbClr val="2E75B6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7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Online API (live query)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80006" y="6473952"/>
            <a:ext cx="164592" cy="164592"/>
          </a:xfrm>
          <a:prstGeom prst="rect">
            <a:avLst/>
          </a:prstGeom>
          <a:solidFill>
            <a:srgbClr val="7F7F7F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81174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Static table in code (literature)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06900" y="6473952"/>
            <a:ext cx="164592" cy="164592"/>
          </a:xfrm>
          <a:prstGeom prst="rect">
            <a:avLst/>
          </a:prstGeom>
          <a:solidFill>
            <a:srgbClr val="ED7D31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8068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Curated data file (hand-written)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7102" y="6473952"/>
            <a:ext cx="164592" cy="164592"/>
          </a:xfrm>
          <a:prstGeom prst="rect">
            <a:avLst/>
          </a:prstGeom>
          <a:solidFill>
            <a:srgbClr val="70AD47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78270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Generated data file (script)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20532" y="6473952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21700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Pure computation (offline)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50577" y="6473952"/>
            <a:ext cx="164592" cy="164592"/>
          </a:xfrm>
          <a:prstGeom prst="rect">
            <a:avLst/>
          </a:prstGeom>
          <a:solidFill>
            <a:srgbClr val="8064A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51745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Orchestrator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586923" y="6473952"/>
            <a:ext cx="164592" cy="164592"/>
          </a:xfrm>
          <a:prstGeom prst="rect">
            <a:avLst/>
          </a:prstGeom>
          <a:solidFill>
            <a:srgbClr val="FFD966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88091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Output 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33333"/>
                </a:solidFill>
              </a:rPr>
              <a:t>RV analysis chain (deep_dive._run_rv_analysis) -- validated single-target path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2697480" cy="105156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FFFFFF"/>
                </a:solidFill>
              </a:rPr>
              <a:t>DACE query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rv_data.query_dace_rv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RVs + fwhm/bis/smw/rhk/halpha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HD 20794: 9,077 meas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914400"/>
            <a:ext cx="2697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333333"/>
                </a:solidFill>
              </a:rPr>
              <a:t>Filter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rv_filter_instruments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exclude bad instruments,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5-MAD clip, scatter/precision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914400"/>
            <a:ext cx="2697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333333"/>
                </a:solidFill>
              </a:rPr>
              <a:t>Nightly bin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rv_bin_nightly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inverse-variance weighted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748 pts, indicators averaged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914400"/>
            <a:ext cx="2697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333333"/>
                </a:solidFill>
              </a:rPr>
              <a:t>Keplerian MAP fit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rv_keplerian.fit_keplerian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RadVel: offsets + jitter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RMS 4.28 m/s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63240" y="1435608"/>
            <a:ext cx="27432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0" y="1435608"/>
            <a:ext cx="27432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006840" y="1435608"/>
            <a:ext cx="27432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5760" y="2834640"/>
            <a:ext cx="2697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333333"/>
                </a:solidFill>
              </a:rPr>
              <a:t>Activity decorrelation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rv_decorrelate_activity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regress RESIDUALS on indicators,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per instrument; RMS 2.99 m/s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834640"/>
            <a:ext cx="2697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333333"/>
                </a:solidFill>
              </a:rPr>
              <a:t>Refit Keplerian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same planets on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decorrelated RVs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834640"/>
            <a:ext cx="2697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333333"/>
                </a:solidFill>
              </a:rPr>
              <a:t>Quasi-periodic GP fit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shared hyperparams, HardBounds,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staged vary schedule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RMS 1.83 m/s; K within 8-12%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2834640"/>
            <a:ext cx="2697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333333"/>
                </a:solidFill>
              </a:rPr>
              <a:t>MCMC (optional)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error bars: K +/- sigma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ensembles=3, chain medians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~35 min/target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737360" y="1965960"/>
            <a:ext cx="8915400" cy="86868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52160" y="2286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Keplerian residuals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63240" y="3355848"/>
            <a:ext cx="27432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35040" y="3355848"/>
            <a:ext cx="27432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06840" y="3355848"/>
            <a:ext cx="27432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5760" y="4297680"/>
            <a:ext cx="4023360" cy="914400"/>
          </a:xfrm>
          <a:prstGeom prst="roundRect">
            <a:avLst/>
          </a:prstGeom>
          <a:solidFill>
            <a:srgbClr val="ED7D31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known_planets.json (curated)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decides WHICH planets are fitted (confirmed only);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per-target config seeds GP priors (activity_cycle_days),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rotation_days, exclude_instruments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377440" y="1965960"/>
            <a:ext cx="731520" cy="2331720"/>
          </a:xfrm>
          <a:prstGeom prst="line">
            <a:avLst/>
          </a:prstGeom>
          <a:ln w="12700">
            <a:solidFill>
              <a:srgbClr val="33333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657600" y="3886200"/>
            <a:ext cx="2926080" cy="411480"/>
          </a:xfrm>
          <a:prstGeom prst="line">
            <a:avLst/>
          </a:prstGeom>
          <a:ln w="12700">
            <a:solidFill>
              <a:srgbClr val="33333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754880" y="4297680"/>
            <a:ext cx="3291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333333"/>
                </a:solidFill>
              </a:rPr>
              <a:t>Residual periodogram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remaining peaks -&gt; candidates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for vetting (slide 5)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6400800" y="3886200"/>
            <a:ext cx="4114800" cy="41148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12480" y="4297680"/>
            <a:ext cx="3383280" cy="9144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00" b="1">
                <a:solidFill>
                  <a:srgbClr val="333333"/>
                </a:solidFill>
              </a:rPr>
              <a:t>RadVel gotchas (cost real debugging)</a:t>
            </a:r>
          </a:p>
          <a:p>
            <a:pPr algn="l"/>
            <a:r>
              <a:rPr sz="800">
                <a:solidFill>
                  <a:srgbClr val="333333"/>
                </a:solidFill>
              </a:rPr>
              <a:t>vary flags cached: use _sync_vary_flags()</a:t>
            </a:r>
          </a:p>
          <a:p>
            <a:pPr algn="l"/>
            <a:r>
              <a:rPr sz="800">
                <a:solidFill>
                  <a:srgbClr val="333333"/>
                </a:solidFill>
              </a:rPr>
              <a:t>mcmc: ensembles=3 + restore chain medians</a:t>
            </a:r>
          </a:p>
          <a:p>
            <a:pPr algn="l"/>
            <a:r>
              <a:rPr sz="800">
                <a:solidFill>
                  <a:srgbClr val="333333"/>
                </a:solidFill>
              </a:rPr>
              <a:t>cap BLAS threads at 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486400"/>
            <a:ext cx="11430000" cy="7315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333333"/>
                </a:solidFill>
              </a:rPr>
              <a:t>Why this chain order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each stage roughly halved the K-amplitude error on HD 20794 (K ~ 0.5 m/s, BELOW activity); for 61 Vir (K ABOVE activity) binning + honest optimizer already reach literature values; GP matters most when K &lt; activity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6473952"/>
            <a:ext cx="164592" cy="164592"/>
          </a:xfrm>
          <a:prstGeom prst="rect">
            <a:avLst/>
          </a:prstGeom>
          <a:solidFill>
            <a:srgbClr val="2E75B6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7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Online API (live query)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80006" y="6473952"/>
            <a:ext cx="164592" cy="164592"/>
          </a:xfrm>
          <a:prstGeom prst="rect">
            <a:avLst/>
          </a:prstGeom>
          <a:solidFill>
            <a:srgbClr val="7F7F7F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81174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Static table in code (literature)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06900" y="6473952"/>
            <a:ext cx="164592" cy="164592"/>
          </a:xfrm>
          <a:prstGeom prst="rect">
            <a:avLst/>
          </a:prstGeom>
          <a:solidFill>
            <a:srgbClr val="ED7D31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8068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Curated data file (hand-written)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77102" y="6473952"/>
            <a:ext cx="164592" cy="164592"/>
          </a:xfrm>
          <a:prstGeom prst="rect">
            <a:avLst/>
          </a:prstGeom>
          <a:solidFill>
            <a:srgbClr val="70AD47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270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Generated data file (script)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20532" y="6473952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21700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Pure computation (offline)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50577" y="6473952"/>
            <a:ext cx="164592" cy="164592"/>
          </a:xfrm>
          <a:prstGeom prst="rect">
            <a:avLst/>
          </a:prstGeom>
          <a:solidFill>
            <a:srgbClr val="8064A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51745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Orchestrator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86923" y="6473952"/>
            <a:ext cx="164592" cy="164592"/>
          </a:xfrm>
          <a:prstGeom prst="rect">
            <a:avLst/>
          </a:prstGeom>
          <a:solidFill>
            <a:srgbClr val="FFD966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88091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Output 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33333"/>
                </a:solidFill>
              </a:rPr>
              <a:t>Survey driver (src/survey.py, Phase 8) -- one scorecard per target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822960"/>
            <a:ext cx="2194560" cy="8229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333333"/>
                </a:solidFill>
              </a:rPr>
              <a:t>CLI input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--targets "HD 10700" ...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or --shell 0 6 (pc)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822960"/>
            <a:ext cx="2377440" cy="822960"/>
          </a:xfrm>
          <a:prstGeom prst="roundRect">
            <a:avLst/>
          </a:prstGeom>
          <a:solidFill>
            <a:srgbClr val="7F7F7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TARGET_CATALOG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10 curated stars in code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(literature values)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0" y="822960"/>
            <a:ext cx="2377440" cy="822960"/>
          </a:xfrm>
          <a:prstGeom prst="roundRect">
            <a:avLst/>
          </a:prstGeom>
          <a:solidFill>
            <a:srgbClr val="70AD47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shell_catalog.json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176 FGK dwarfs &lt; 15 pc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approx Teff/mass from sp-type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822960"/>
            <a:ext cx="3017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333333"/>
                </a:solidFill>
              </a:rPr>
              <a:t>targets.get_target / targets_in_shell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curated wins on HD collision; nearest-first order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1234440"/>
            <a:ext cx="4572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394960" y="1234440"/>
            <a:ext cx="4572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229600" y="1234440"/>
            <a:ext cx="4572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iamond 9"/>
          <p:cNvSpPr/>
          <p:nvPr/>
        </p:nvSpPr>
        <p:spPr>
          <a:xfrm>
            <a:off x="365760" y="2148840"/>
            <a:ext cx="2743200" cy="96012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333333"/>
                </a:solidFill>
              </a:rPr>
              <a:t>Reference-first decision</a:t>
            </a:r>
          </a:p>
          <a:p>
            <a:pPr algn="ctr"/>
            <a:r>
              <a:rPr sz="700">
                <a:solidFill>
                  <a:srgbClr val="333333"/>
                </a:solidFill>
              </a:rPr>
              <a:t>curated entry in known_planets.json?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194560" y="1645920"/>
            <a:ext cx="7955280" cy="59436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2011680"/>
            <a:ext cx="2743200" cy="594360"/>
          </a:xfrm>
          <a:prstGeom prst="roundRect">
            <a:avLst/>
          </a:prstGeom>
          <a:solidFill>
            <a:srgbClr val="ED7D31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FFFFFF"/>
                </a:solidFill>
              </a:rPr>
              <a:t>yes: fit confirmed planets</a:t>
            </a:r>
          </a:p>
          <a:p>
            <a:pPr algn="ctr"/>
            <a:r>
              <a:rPr sz="750">
                <a:solidFill>
                  <a:srgbClr val="FFFFFF"/>
                </a:solidFill>
              </a:rPr>
              <a:t>known_planets.json (curated)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743200"/>
            <a:ext cx="2743200" cy="59436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FFFFFF"/>
                </a:solidFill>
              </a:rPr>
              <a:t>no: NASA Archive query</a:t>
            </a:r>
          </a:p>
          <a:p>
            <a:pPr algn="ctr"/>
            <a:r>
              <a:rPr sz="750">
                <a:solidFill>
                  <a:srgbClr val="FFFFFF"/>
                </a:solidFill>
              </a:rPr>
              <a:t>uncurated targets only (stale rows risk)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2011680"/>
            <a:ext cx="2743200" cy="5943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333333"/>
                </a:solidFill>
              </a:rPr>
              <a:t>zero confirmed planets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NO forced fit (Tau Ceti path)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108960" y="2304288"/>
            <a:ext cx="457200" cy="118872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54680" y="21214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333333"/>
                </a:solidFill>
              </a:rPr>
              <a:t>yes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08960" y="2834640"/>
            <a:ext cx="457200" cy="18288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54680" y="29443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333333"/>
                </a:solidFill>
              </a:rPr>
              <a:t>no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09360" y="2304288"/>
            <a:ext cx="4572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65760" y="3794760"/>
            <a:ext cx="3108960" cy="822960"/>
          </a:xfrm>
          <a:prstGeom prst="roundRect">
            <a:avLst/>
          </a:prstGeom>
          <a:solidFill>
            <a:srgbClr val="8064A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RV chain (slide 4)</a:t>
            </a:r>
          </a:p>
          <a:p>
            <a:pPr algn="ctr"/>
            <a:r>
              <a:rPr sz="800">
                <a:solidFill>
                  <a:srgbClr val="FFFFFF"/>
                </a:solidFill>
              </a:rPr>
              <a:t>deep_dive._run_rv_analysis; per-target try/except -- one failure never kills the run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37360" y="3108960"/>
            <a:ext cx="0" cy="68580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931920" y="3794760"/>
            <a:ext cx="42062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1">
                <a:solidFill>
                  <a:srgbClr val="333333"/>
                </a:solidFill>
              </a:rPr>
              <a:t>Candidate vetting (vet_candidate_period)</a:t>
            </a:r>
          </a:p>
          <a:p>
            <a:pPr algn="l"/>
            <a:r>
              <a:rPr sz="750">
                <a:solidFill>
                  <a:srgbClr val="333333"/>
                </a:solidFill>
              </a:rPr>
              <a:t>known planet +/-5% and DAILY ALIASES of known planets (f = 1 -/+ 1/P)</a:t>
            </a:r>
          </a:p>
          <a:p>
            <a:pPr algn="l"/>
            <a:r>
              <a:rPr sz="750">
                <a:solidFill>
                  <a:srgbClr val="333333"/>
                </a:solidFill>
              </a:rPr>
              <a:t>1-day alias family (0.5 / 0.997 / 1.0 / 2.0 d)</a:t>
            </a:r>
          </a:p>
          <a:p>
            <a:pPr algn="l"/>
            <a:r>
              <a:rPr sz="750">
                <a:solidFill>
                  <a:srgbClr val="333333"/>
                </a:solidFill>
              </a:rPr>
              <a:t>annual 365.25 d + first harmonic (+/-10%)</a:t>
            </a:r>
          </a:p>
          <a:p>
            <a:pPr algn="l"/>
            <a:r>
              <a:rPr sz="750">
                <a:solidFill>
                  <a:srgbClr val="333333"/>
                </a:solidFill>
              </a:rPr>
              <a:t>rotation harmonics P/2, P, 2P (+/-15%)</a:t>
            </a:r>
          </a:p>
          <a:p>
            <a:pPr algn="l"/>
            <a:r>
              <a:rPr sz="750">
                <a:solidFill>
                  <a:srgbClr val="333333"/>
                </a:solidFill>
              </a:rPr>
              <a:t>magnetic cycle +/-30% + cycle-annual beat (the 414 d lesson)</a:t>
            </a:r>
          </a:p>
          <a:p>
            <a:pPr algn="l"/>
            <a:r>
              <a:rPr sz="750">
                <a:solidFill>
                  <a:srgbClr val="333333"/>
                </a:solidFill>
              </a:rPr>
              <a:t>coverage &lt; 2 cycles (P &gt; baseline/2)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474720" y="4206240"/>
            <a:ext cx="4572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595360" y="3794760"/>
            <a:ext cx="31089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1">
                <a:solidFill>
                  <a:srgbClr val="333333"/>
                </a:solidFill>
              </a:rPr>
              <a:t>Scorecard per target</a:t>
            </a:r>
          </a:p>
          <a:p>
            <a:pPr algn="l"/>
            <a:r>
              <a:rPr sz="800">
                <a:solidFill>
                  <a:srgbClr val="333333"/>
                </a:solidFill>
              </a:rPr>
              <a:t>data quality (n pts, baseline, instruments)</a:t>
            </a:r>
          </a:p>
          <a:p>
            <a:pPr algn="l"/>
            <a:r>
              <a:rPr sz="800">
                <a:solidFill>
                  <a:srgbClr val="333333"/>
                </a:solidFill>
              </a:rPr>
              <a:t>recovered planets vs reference (K, n_sigma)</a:t>
            </a:r>
          </a:p>
          <a:p>
            <a:pPr algn="l"/>
            <a:r>
              <a:rPr sz="800">
                <a:solidFill>
                  <a:srgbClr val="333333"/>
                </a:solidFill>
              </a:rPr>
              <a:t>surviving + vetoed candidates</a:t>
            </a:r>
          </a:p>
          <a:p>
            <a:pPr algn="l"/>
            <a:r>
              <a:rPr sz="800">
                <a:solidFill>
                  <a:srgbClr val="333333"/>
                </a:solidFill>
              </a:rPr>
              <a:t>analytic K limits at 10/30/100/300/1000 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38160" y="4480560"/>
            <a:ext cx="4572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931920" y="5486400"/>
            <a:ext cx="4023360" cy="640080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333333"/>
                </a:solidFill>
              </a:rPr>
              <a:t>output/survey/survey_results.json</a:t>
            </a:r>
          </a:p>
          <a:p>
            <a:pPr algn="ctr"/>
            <a:r>
              <a:rPr sz="800">
                <a:solidFill>
                  <a:srgbClr val="333333"/>
                </a:solidFill>
              </a:rPr>
              <a:t>+ survey_summary.md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7315200" y="5166360"/>
            <a:ext cx="2286000" cy="32004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595360" y="5486400"/>
            <a:ext cx="3108960" cy="6400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333333"/>
                </a:solidFill>
              </a:rPr>
              <a:t>First run: 3/3 targets ok, ~6 min</a:t>
            </a:r>
          </a:p>
          <a:p>
            <a:pPr algn="ctr"/>
            <a:r>
              <a:rPr sz="750">
                <a:solidFill>
                  <a:srgbClr val="333333"/>
                </a:solidFill>
              </a:rPr>
              <a:t>HD 20794 3/3 planets, 61 Vir 3/3, Tau Ceti honest null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6473952"/>
            <a:ext cx="164592" cy="164592"/>
          </a:xfrm>
          <a:prstGeom prst="rect">
            <a:avLst/>
          </a:prstGeom>
          <a:solidFill>
            <a:srgbClr val="2E75B6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Online API (live query)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80006" y="6473952"/>
            <a:ext cx="164592" cy="164592"/>
          </a:xfrm>
          <a:prstGeom prst="rect">
            <a:avLst/>
          </a:prstGeom>
          <a:solidFill>
            <a:srgbClr val="7F7F7F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81174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Static table in code (literature)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06900" y="6473952"/>
            <a:ext cx="164592" cy="164592"/>
          </a:xfrm>
          <a:prstGeom prst="rect">
            <a:avLst/>
          </a:prstGeom>
          <a:solidFill>
            <a:srgbClr val="ED7D31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8068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Curated data file (hand-written)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77102" y="6473952"/>
            <a:ext cx="164592" cy="164592"/>
          </a:xfrm>
          <a:prstGeom prst="rect">
            <a:avLst/>
          </a:prstGeom>
          <a:solidFill>
            <a:srgbClr val="70AD47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78270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Generated data file (script)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20532" y="6473952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21700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Pure computation (offline)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50577" y="6473952"/>
            <a:ext cx="164592" cy="164592"/>
          </a:xfrm>
          <a:prstGeom prst="rect">
            <a:avLst/>
          </a:prstGeom>
          <a:solidFill>
            <a:srgbClr val="8064A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51745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Orchestrator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586923" y="6473952"/>
            <a:ext cx="164592" cy="164592"/>
          </a:xfrm>
          <a:prstGeom prst="rect">
            <a:avLst/>
          </a:prstGeom>
          <a:solidFill>
            <a:srgbClr val="FFD966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88091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Output 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33333"/>
                </a:solidFill>
              </a:rPr>
              <a:t>Test suite -- 261 tests: what is synthetic, what is real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777240"/>
            <a:ext cx="7498079" cy="2377440"/>
          </a:xfrm>
          <a:prstGeom prst="roundRect">
            <a:avLst/>
          </a:prstGeom>
          <a:solidFill>
            <a:srgbClr val="F8CBAD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100" b="1">
                <a:solidFill>
                  <a:srgbClr val="333333"/>
                </a:solidFill>
              </a:rPr>
              <a:t>OFFLINE: synthetic / canned data (fast, deterministic, 253 tests)</a:t>
            </a:r>
          </a:p>
          <a:p>
            <a:pPr algn="l"/>
            <a:r>
              <a:rPr sz="850">
                <a:solidFill>
                  <a:srgbClr val="333333"/>
                </a:solidFill>
              </a:rPr>
              <a:t>test_distance/temperature/mass/pipeline (38): canned star dicts (Proxima, Sun-like, Sirius, Delta Cep)</a:t>
            </a:r>
          </a:p>
          <a:p>
            <a:pPr algn="l"/>
            <a:r>
              <a:rPr sz="850">
                <a:solidFill>
                  <a:srgbClr val="333333"/>
                </a:solidFill>
              </a:rPr>
              <a:t>test_periodogram (14): injected sinusoids + pure noise</a:t>
            </a:r>
          </a:p>
          <a:p>
            <a:pPr algn="l"/>
            <a:r>
              <a:rPr sz="850">
                <a:solidFill>
                  <a:srgbClr val="333333"/>
                </a:solidFill>
              </a:rPr>
              <a:t>test_transit (57 offline): synthetic box and V-shaped transits, even/odd depth cases</a:t>
            </a:r>
          </a:p>
          <a:p>
            <a:pPr algn="l"/>
            <a:r>
              <a:rPr sz="850">
                <a:solidFill>
                  <a:srgbClr val="333333"/>
                </a:solidFill>
              </a:rPr>
              <a:t>test_lightcurve (8 offline): synthetic light curves with trends</a:t>
            </a:r>
          </a:p>
          <a:p>
            <a:pPr algn="l"/>
            <a:r>
              <a:rPr sz="850">
                <a:solidFill>
                  <a:srgbClr val="333333"/>
                </a:solidFill>
              </a:rPr>
              <a:t>test_phase7a/7b (55): synthetic RV signals, injection-recovery grids, PM dicts</a:t>
            </a:r>
          </a:p>
          <a:p>
            <a:pPr algn="l"/>
            <a:r>
              <a:rPr sz="850">
                <a:solidFill>
                  <a:srgbClr val="333333"/>
                </a:solidFill>
              </a:rPr>
              <a:t>test_phase7b2/7c (38): RadVel fits on INJECTED planets (skipped if RadVel missing)</a:t>
            </a:r>
          </a:p>
          <a:p>
            <a:pPr algn="l"/>
            <a:r>
              <a:rPr sz="850">
                <a:solidFill>
                  <a:srgbClr val="333333"/>
                </a:solidFill>
              </a:rPr>
              <a:t>test_phase8 (43): canned rv_result dicts, fake SIMBAD rows, monkeypatched failure injection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0" y="777240"/>
            <a:ext cx="3657600" cy="1097280"/>
          </a:xfrm>
          <a:prstGeom prst="roundRect">
            <a:avLst/>
          </a:prstGeom>
          <a:solidFill>
            <a:srgbClr val="ED7D31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1">
                <a:solidFill>
                  <a:srgbClr val="FFFFFF"/>
                </a:solidFill>
              </a:rPr>
              <a:t>Reads REAL repo data</a:t>
            </a:r>
          </a:p>
          <a:p>
            <a:pPr algn="l"/>
            <a:r>
              <a:rPr sz="850">
                <a:solidFill>
                  <a:srgbClr val="FFFFFF"/>
                </a:solidFill>
              </a:rPr>
              <a:t>test_phase8.py reads data/known_planets.json --</a:t>
            </a:r>
          </a:p>
          <a:p>
            <a:pPr algn="l"/>
            <a:r>
              <a:rPr sz="850">
                <a:solidFill>
                  <a:srgbClr val="FFFFFF"/>
                </a:solidFill>
              </a:rPr>
              <a:t>deliberate regression pin on curated literature values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2057400"/>
            <a:ext cx="3657600" cy="10972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1">
                <a:solidFill>
                  <a:srgbClr val="333333"/>
                </a:solidFill>
              </a:rPr>
              <a:t>No HTTP mocking layer</a:t>
            </a:r>
          </a:p>
          <a:p>
            <a:pPr algn="l"/>
            <a:r>
              <a:rPr sz="850">
                <a:solidFill>
                  <a:srgbClr val="333333"/>
                </a:solidFill>
              </a:rPr>
              <a:t>analysis code takes arrays, never fetches;</a:t>
            </a:r>
          </a:p>
          <a:p>
            <a:pPr algn="l"/>
            <a:r>
              <a:rPr sz="850">
                <a:solidFill>
                  <a:srgbClr val="333333"/>
                </a:solidFill>
              </a:rPr>
              <a:t>tests inject known signals and assert recovery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429000"/>
            <a:ext cx="11430000" cy="105156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100" b="1">
                <a:solidFill>
                  <a:srgbClr val="FFFFFF"/>
                </a:solidFill>
              </a:rPr>
              <a:t>NETWORK: @pytest.mark.network (8 tests, live archives, slow)</a:t>
            </a:r>
          </a:p>
          <a:p>
            <a:pPr algn="l"/>
            <a:r>
              <a:rPr sz="850">
                <a:solidFill>
                  <a:srgbClr val="FFFFFF"/>
                </a:solidFill>
              </a:rPr>
              <a:t>test_82_eridani_integration (4): SIMBAD + NASA + Gaia/Hipparcos + full HD 20794 report</a:t>
            </a:r>
          </a:p>
          <a:p>
            <a:pPr algn="l"/>
            <a:r>
              <a:rPr sz="850">
                <a:solidFill>
                  <a:srgbClr val="FFFFFF"/>
                </a:solidFill>
              </a:rPr>
              <a:t>test_lightcurve (3): real MAST search/download of KIC 6922244</a:t>
            </a:r>
          </a:p>
          <a:p>
            <a:pPr algn="l"/>
            <a:r>
              <a:rPr sz="850">
                <a:solidFill>
                  <a:srgbClr val="FFFFFF"/>
                </a:solidFill>
              </a:rPr>
              <a:t>test_transit (1): BLS recovery of Kepler-410A b from real Kepler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754880"/>
            <a:ext cx="11430000" cy="13716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100" b="1">
                <a:solidFill>
                  <a:srgbClr val="333333"/>
                </a:solidFill>
              </a:rPr>
              <a:t>How to run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standard offline regression (136 tests, ~10 s):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  ./venv/Scripts/python.exe -m pytest tests/test_phase7a.py tests/test_phase7b.py tests/test_phase7b2.py tests/test_phase7c.py tests/test_phase8.py -q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everything except network:   pytest tests/ -m "not network" -q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network integration only:    pytest tests/ -m network -q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64592" cy="164592"/>
          </a:xfrm>
          <a:prstGeom prst="rect">
            <a:avLst/>
          </a:prstGeom>
          <a:solidFill>
            <a:srgbClr val="2E75B6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Online API (live query)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0006" y="6473952"/>
            <a:ext cx="164592" cy="164592"/>
          </a:xfrm>
          <a:prstGeom prst="rect">
            <a:avLst/>
          </a:prstGeom>
          <a:solidFill>
            <a:srgbClr val="7F7F7F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1174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Static table in code (literature)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06900" y="6473952"/>
            <a:ext cx="164592" cy="164592"/>
          </a:xfrm>
          <a:prstGeom prst="rect">
            <a:avLst/>
          </a:prstGeom>
          <a:solidFill>
            <a:srgbClr val="ED7D31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8068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Curated data file (hand-written)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77102" y="6473952"/>
            <a:ext cx="164592" cy="164592"/>
          </a:xfrm>
          <a:prstGeom prst="rect">
            <a:avLst/>
          </a:prstGeom>
          <a:solidFill>
            <a:srgbClr val="70AD47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8270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Generated data file (script)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532" y="6473952"/>
            <a:ext cx="164592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1700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Pure computation (offline)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50577" y="6473952"/>
            <a:ext cx="164592" cy="164592"/>
          </a:xfrm>
          <a:prstGeom prst="rect">
            <a:avLst/>
          </a:prstGeom>
          <a:solidFill>
            <a:srgbClr val="8064A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51745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Orchestrator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86923" y="6473952"/>
            <a:ext cx="164592" cy="164592"/>
          </a:xfrm>
          <a:prstGeom prst="rect">
            <a:avLst/>
          </a:prstGeom>
          <a:solidFill>
            <a:srgbClr val="FFD966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8091" y="64373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</a:rPr>
              <a:t>Output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